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385" r:id="rId2"/>
    <p:sldId id="258" r:id="rId3"/>
    <p:sldId id="386" r:id="rId4"/>
    <p:sldId id="384" r:id="rId5"/>
    <p:sldId id="395" r:id="rId6"/>
    <p:sldId id="396" r:id="rId7"/>
    <p:sldId id="397" r:id="rId8"/>
    <p:sldId id="382" r:id="rId9"/>
    <p:sldId id="390" r:id="rId10"/>
    <p:sldId id="389" r:id="rId11"/>
    <p:sldId id="387" r:id="rId12"/>
    <p:sldId id="388" r:id="rId13"/>
    <p:sldId id="391" r:id="rId14"/>
    <p:sldId id="398" r:id="rId15"/>
    <p:sldId id="399" r:id="rId16"/>
    <p:sldId id="400" r:id="rId17"/>
    <p:sldId id="392" r:id="rId18"/>
    <p:sldId id="393" r:id="rId19"/>
    <p:sldId id="394" r:id="rId20"/>
    <p:sldId id="401" r:id="rId21"/>
    <p:sldId id="402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B5020BC-59A6-46DF-B6B5-1535F9370B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F5CF24-DC29-4F02-82E6-AA9F14F16D2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29D95-E9E3-4552-957F-C7B8CD71DED8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33C370E-D69E-42C1-86C2-EA4D38AD87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C66411-3AB5-4180-BFAA-759EDA1152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B41C52-F1BB-4C07-A20E-12CFF56207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99186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F0C81-324A-46ED-B73B-81B80D72A858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0D15EC-A2B4-4E7E-9559-14A76DF48B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61806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69C9F2-7C80-4D0D-A5F8-E0B8089F3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B85C7B-BBD9-47B4-84FB-FC65A22FE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E71B02-9346-4F6E-87B4-2BDF06EC3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539-0D9D-4F39-A215-82A46FF80F5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538019-2715-491D-BDB5-51F527AB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9E5A94-4F52-45BF-9417-23B3D311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798B8-79D5-4ACF-9BBC-BDBE21762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774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CB7E5-576A-497F-AF17-9DD45A61A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065194-BD0F-4E72-AF93-06C7542E0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A2162-0040-419C-BFC9-45B95834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539-0D9D-4F39-A215-82A46FF80F5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530AA4-0B68-408A-8EF4-CD77881D7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74ECA6-9F1B-4E99-8013-1F25049F5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798B8-79D5-4ACF-9BBC-BDBE21762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85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01062A-36C4-4DAA-824B-01EFFAEA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0ED167-4267-46F2-8C81-1A0752D10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E7F46F-9F5B-4EFE-9238-E59FD34E8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539-0D9D-4F39-A215-82A46FF80F5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F7DBB6-F341-4F3B-83BA-F2FBA294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3479A5-3A03-4237-BD24-B218A33AC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798B8-79D5-4ACF-9BBC-BDBE21762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001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7FCF5F-B5DC-48C6-A83D-2B4254F57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D4A13C-B9AD-4E08-A4D5-686068840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5539-0D9D-4F39-A215-82A46FF80F5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B509854-FB91-4CC3-9AED-91BFBE611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3D70A8-377E-4421-8D3D-F8BD5EAD3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798B8-79D5-4ACF-9BBC-BDBE21762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15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빈화면+상세설명" userDrawn="1">
  <p:cSld name="빈화면+상세설명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Google Shape;24;p46"/>
          <p:cNvGraphicFramePr/>
          <p:nvPr>
            <p:extLst>
              <p:ext uri="{D42A27DB-BD31-4B8C-83A1-F6EECF244321}">
                <p14:modId xmlns:p14="http://schemas.microsoft.com/office/powerpoint/2010/main" val="3814465973"/>
              </p:ext>
            </p:extLst>
          </p:nvPr>
        </p:nvGraphicFramePr>
        <p:xfrm>
          <a:off x="8956086" y="393703"/>
          <a:ext cx="3117375" cy="63928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1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928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Gulim"/>
                        <a:buNone/>
                      </a:pPr>
                      <a:endParaRPr sz="10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5" name="Google Shape;25;p46"/>
          <p:cNvGraphicFramePr/>
          <p:nvPr>
            <p:extLst>
              <p:ext uri="{D42A27DB-BD31-4B8C-83A1-F6EECF244321}">
                <p14:modId xmlns:p14="http://schemas.microsoft.com/office/powerpoint/2010/main" val="705449667"/>
              </p:ext>
            </p:extLst>
          </p:nvPr>
        </p:nvGraphicFramePr>
        <p:xfrm>
          <a:off x="93140" y="393705"/>
          <a:ext cx="8799108" cy="63928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799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928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Gulim"/>
                        <a:buNone/>
                      </a:pPr>
                      <a:endParaRPr sz="10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121925" marR="121925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Google Shape;26;p46"/>
          <p:cNvGraphicFramePr/>
          <p:nvPr>
            <p:extLst>
              <p:ext uri="{D42A27DB-BD31-4B8C-83A1-F6EECF244321}">
                <p14:modId xmlns:p14="http://schemas.microsoft.com/office/powerpoint/2010/main" val="2623342793"/>
              </p:ext>
            </p:extLst>
          </p:nvPr>
        </p:nvGraphicFramePr>
        <p:xfrm>
          <a:off x="95025" y="71427"/>
          <a:ext cx="8797224" cy="2460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24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4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8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3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6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작업</a:t>
                      </a:r>
                      <a:r>
                        <a:rPr lang="en-US" sz="900" b="1" i="0" u="none" strike="noStrike" cap="none" dirty="0" err="1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명</a:t>
                      </a:r>
                      <a:endParaRPr sz="1200" u="none" strike="noStrike" cap="none" dirty="0"/>
                    </a:p>
                  </a:txBody>
                  <a:tcPr marL="121925" marR="1219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분류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Gulim"/>
                        <a:buNone/>
                      </a:pP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Google Shape;27;p46"/>
          <p:cNvGraphicFramePr/>
          <p:nvPr>
            <p:extLst>
              <p:ext uri="{D42A27DB-BD31-4B8C-83A1-F6EECF244321}">
                <p14:modId xmlns:p14="http://schemas.microsoft.com/office/powerpoint/2010/main" val="388461848"/>
              </p:ext>
            </p:extLst>
          </p:nvPr>
        </p:nvGraphicFramePr>
        <p:xfrm>
          <a:off x="8956114" y="63502"/>
          <a:ext cx="3117375" cy="2460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59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06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화면</a:t>
                      </a:r>
                      <a:r>
                        <a:rPr lang="en-US" altLang="ko-KR" sz="8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1200" u="none" strike="noStrike" cap="none" dirty="0"/>
                    </a:p>
                  </a:txBody>
                  <a:tcPr marL="121925" marR="1219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Gulim"/>
                        <a:buNone/>
                      </a:pPr>
                      <a:endParaRPr sz="800" b="0" i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4780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94">
          <p15:clr>
            <a:srgbClr val="FBAE40"/>
          </p15:clr>
        </p15:guide>
        <p15:guide id="2" pos="443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67CD586-56AD-4647-9398-6BE6D2ED2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4F5069-21B5-4766-93C8-FF29A2CDF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3BA1EC-9C2B-45CD-8777-454D7AB382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35539-0D9D-4F39-A215-82A46FF80F52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6D5140-60FD-49E9-BED4-AE827D143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63CB5E-4D52-4C80-B491-A0EFF9506E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798B8-79D5-4ACF-9BBC-BDBE217621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970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60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CFD1F07-6C82-49D2-B25C-7FBBA50B97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미니 프로젝트 제목</a:t>
            </a: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94DEFAD6-9020-42DF-8F23-F189C7B549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pPr>
              <a:lnSpc>
                <a:spcPct val="150000"/>
              </a:lnSpc>
            </a:pPr>
            <a:r>
              <a:rPr lang="en-US" altLang="ko-KR" dirty="0"/>
              <a:t>BE : </a:t>
            </a:r>
            <a:r>
              <a:rPr lang="ko-KR" altLang="en-US" dirty="0" err="1"/>
              <a:t>박진하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FE : </a:t>
            </a:r>
            <a:r>
              <a:rPr lang="ko-KR" altLang="en-US" dirty="0" err="1"/>
              <a:t>석동찬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8908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146C3-B8B0-406D-84B8-A9D32AF24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활용 데이터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7C1980-B133-4650-A4DD-E3CADB853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출처 </a:t>
            </a:r>
            <a:r>
              <a:rPr lang="en-US" altLang="ko-KR" dirty="0"/>
              <a:t>: </a:t>
            </a:r>
            <a:r>
              <a:rPr lang="ko-KR" altLang="en-US" dirty="0" err="1"/>
              <a:t>문화빅데이터플랫폼</a:t>
            </a:r>
            <a:r>
              <a:rPr lang="ko-KR" altLang="en-US" dirty="0"/>
              <a:t> </a:t>
            </a:r>
            <a:r>
              <a:rPr lang="en-US" altLang="ko-KR" dirty="0"/>
              <a:t>(https://www.bigdata-culture.kr/bigdata/user/data_market/detail.do? id=3b5399ad-88c4-43aa-a1d7-7ef6a630370b)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내용 </a:t>
            </a:r>
            <a:r>
              <a:rPr lang="en-US" altLang="ko-KR" dirty="0"/>
              <a:t>: </a:t>
            </a:r>
            <a:r>
              <a:rPr lang="ko-KR" altLang="en-US" dirty="0"/>
              <a:t>전국체육시설 현황 데이터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주요 컨텐츠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체육시설명</a:t>
            </a:r>
            <a:r>
              <a:rPr lang="en-US" altLang="ko-KR" dirty="0"/>
              <a:t>, </a:t>
            </a:r>
            <a:r>
              <a:rPr lang="ko-KR" altLang="en-US" dirty="0"/>
              <a:t>주소</a:t>
            </a:r>
            <a:r>
              <a:rPr lang="en-US" altLang="ko-KR" dirty="0"/>
              <a:t>, </a:t>
            </a:r>
            <a:r>
              <a:rPr lang="ko-KR" altLang="en-US" dirty="0"/>
              <a:t>연락처</a:t>
            </a:r>
            <a:r>
              <a:rPr lang="en-US" altLang="ko-KR" dirty="0"/>
              <a:t>, </a:t>
            </a:r>
            <a:r>
              <a:rPr lang="ko-KR" altLang="en-US" dirty="0"/>
              <a:t>홈페이지</a:t>
            </a:r>
            <a:r>
              <a:rPr lang="en-US" altLang="ko-KR" dirty="0"/>
              <a:t>, </a:t>
            </a:r>
            <a:r>
              <a:rPr lang="ko-KR" altLang="en-US" dirty="0"/>
              <a:t>실내외정보</a:t>
            </a:r>
            <a:r>
              <a:rPr lang="en-US" altLang="ko-KR" dirty="0"/>
              <a:t>, </a:t>
            </a:r>
            <a:r>
              <a:rPr lang="ko-KR" altLang="en-US" dirty="0"/>
              <a:t>내진설계여부 등 체육시설에 대한 정보를 조회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22102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기능 정의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ADDCFC6-9D9B-47D0-B590-18185BBF2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로그인</a:t>
            </a:r>
            <a:r>
              <a:rPr lang="en-US" altLang="ko-KR" dirty="0"/>
              <a:t>, </a:t>
            </a:r>
            <a:r>
              <a:rPr lang="ko-KR" altLang="en-US" dirty="0"/>
              <a:t>회원가입 </a:t>
            </a:r>
            <a:r>
              <a:rPr lang="en-US" altLang="ko-KR" dirty="0"/>
              <a:t>(OAuth2.0 </a:t>
            </a:r>
            <a:r>
              <a:rPr lang="ko-KR" altLang="en-US" dirty="0"/>
              <a:t>구글</a:t>
            </a:r>
            <a:r>
              <a:rPr lang="en-US" altLang="ko-KR" dirty="0"/>
              <a:t>, </a:t>
            </a:r>
            <a:r>
              <a:rPr lang="ko-KR" altLang="en-US" dirty="0"/>
              <a:t>네이버 제공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지도 </a:t>
            </a:r>
            <a:r>
              <a:rPr lang="en-US" altLang="ko-KR" dirty="0"/>
              <a:t>(</a:t>
            </a:r>
            <a:r>
              <a:rPr lang="ko-KR" altLang="en-US" dirty="0"/>
              <a:t>광역시</a:t>
            </a:r>
            <a:r>
              <a:rPr lang="en-US" altLang="ko-KR" dirty="0"/>
              <a:t>, </a:t>
            </a:r>
            <a:r>
              <a:rPr lang="ko-KR" altLang="en-US" dirty="0"/>
              <a:t>도 별 지도</a:t>
            </a:r>
            <a:r>
              <a:rPr lang="en-US" altLang="ko-KR" dirty="0"/>
              <a:t>. </a:t>
            </a:r>
            <a:r>
              <a:rPr lang="ko-KR" altLang="en-US" dirty="0"/>
              <a:t>체육시설 개수 당 색상 변경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도표 </a:t>
            </a:r>
            <a:r>
              <a:rPr lang="en-US" altLang="ko-KR" dirty="0"/>
              <a:t>/ </a:t>
            </a:r>
            <a:r>
              <a:rPr lang="ko-KR" altLang="en-US" dirty="0"/>
              <a:t>그래프 </a:t>
            </a:r>
            <a:r>
              <a:rPr lang="en-US" altLang="ko-KR" dirty="0"/>
              <a:t>(</a:t>
            </a:r>
            <a:r>
              <a:rPr lang="ko-KR" altLang="en-US" dirty="0"/>
              <a:t>선택된 도 별 체육시설 개수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상세페이지 </a:t>
            </a:r>
            <a:r>
              <a:rPr lang="en-US" altLang="ko-KR" dirty="0"/>
              <a:t>(</a:t>
            </a:r>
            <a:r>
              <a:rPr lang="ko-KR" altLang="en-US" dirty="0"/>
              <a:t>카카오 </a:t>
            </a:r>
            <a:r>
              <a:rPr lang="en-US" altLang="ko-KR" dirty="0"/>
              <a:t>or </a:t>
            </a:r>
            <a:r>
              <a:rPr lang="ko-KR" altLang="en-US" dirty="0" err="1"/>
              <a:t>구글맵</a:t>
            </a:r>
            <a:r>
              <a:rPr lang="ko-KR" altLang="en-US" dirty="0"/>
              <a:t> 사용하여 해당 위치 </a:t>
            </a:r>
            <a:r>
              <a:rPr lang="en-US" altLang="ko-KR" dirty="0"/>
              <a:t>+ </a:t>
            </a:r>
            <a:r>
              <a:rPr lang="ko-KR" altLang="en-US" dirty="0"/>
              <a:t>내용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체육시설 리뷰</a:t>
            </a:r>
          </a:p>
        </p:txBody>
      </p:sp>
    </p:spTree>
    <p:extLst>
      <p:ext uri="{BB962C8B-B14F-4D97-AF65-F5344CB8AC3E}">
        <p14:creationId xmlns:p14="http://schemas.microsoft.com/office/powerpoint/2010/main" val="4212294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83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시스템 구성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0C84CAF-89D1-4189-BC1E-57308D416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408013" y="588571"/>
            <a:ext cx="4390118" cy="6149130"/>
          </a:xfrm>
          <a:prstGeom prst="rect">
            <a:avLst/>
          </a:prstGeom>
        </p:spPr>
      </p:pic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8EAC6448-9F0C-4F2B-87C5-47F94F8A3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4441" y="1506858"/>
            <a:ext cx="4027415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지도 </a:t>
            </a:r>
            <a:br>
              <a:rPr lang="en-US" altLang="ko-KR" dirty="0"/>
            </a:br>
            <a:r>
              <a:rPr lang="ko-KR" altLang="en-US" sz="1700" dirty="0" err="1"/>
              <a:t>광역시ㆍ도</a:t>
            </a:r>
            <a:r>
              <a:rPr lang="ko-KR" altLang="en-US" sz="1700" dirty="0"/>
              <a:t> 별 지도</a:t>
            </a:r>
            <a:r>
              <a:rPr lang="en-US" altLang="ko-KR" sz="1700" dirty="0"/>
              <a:t>. </a:t>
            </a:r>
            <a:r>
              <a:rPr lang="ko-KR" altLang="en-US" sz="1700" dirty="0"/>
              <a:t>체육시설 개수</a:t>
            </a:r>
            <a:br>
              <a:rPr lang="en-US" altLang="ko-KR" sz="1700" dirty="0"/>
            </a:br>
            <a:r>
              <a:rPr lang="ko-KR" altLang="en-US" sz="1700" dirty="0"/>
              <a:t>당 색상 채도변경 예정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차트</a:t>
            </a:r>
            <a:br>
              <a:rPr lang="en-US" altLang="ko-KR" dirty="0"/>
            </a:br>
            <a:r>
              <a:rPr lang="ko-KR" altLang="en-US" sz="1800" dirty="0"/>
              <a:t>선택된 도 별 체육시설 개수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체육시설 </a:t>
            </a:r>
            <a:r>
              <a:rPr lang="en-US" altLang="ko-KR" dirty="0"/>
              <a:t>count</a:t>
            </a:r>
            <a:br>
              <a:rPr lang="en-US" altLang="ko-KR" dirty="0"/>
            </a:br>
            <a:r>
              <a:rPr lang="ko-KR" altLang="en-US" sz="1800" dirty="0"/>
              <a:t>전국 체육시설 </a:t>
            </a:r>
            <a:r>
              <a:rPr lang="en-US" altLang="ko-KR" sz="1800" dirty="0"/>
              <a:t>count </a:t>
            </a:r>
            <a:r>
              <a:rPr lang="ko-KR" altLang="en-US" sz="1800" dirty="0"/>
              <a:t>및 지도에서</a:t>
            </a:r>
            <a:br>
              <a:rPr lang="en-US" altLang="ko-KR" sz="1800" dirty="0"/>
            </a:br>
            <a:r>
              <a:rPr lang="ko-KR" altLang="en-US" sz="1800" dirty="0"/>
              <a:t>선택된 </a:t>
            </a:r>
            <a:r>
              <a:rPr lang="ko-KR" altLang="en-US" sz="1800" dirty="0" err="1"/>
              <a:t>광역시ㆍ도의</a:t>
            </a:r>
            <a:r>
              <a:rPr lang="ko-KR" altLang="en-US" sz="1800" dirty="0"/>
              <a:t> </a:t>
            </a:r>
            <a:r>
              <a:rPr lang="ko-KR" altLang="en-US" sz="1800" dirty="0" err="1"/>
              <a:t>시설별</a:t>
            </a:r>
            <a:r>
              <a:rPr lang="ko-KR" altLang="en-US" sz="1800" dirty="0"/>
              <a:t> </a:t>
            </a:r>
            <a:r>
              <a:rPr lang="en-US" altLang="ko-KR" sz="1800" dirty="0"/>
              <a:t>count</a:t>
            </a:r>
          </a:p>
        </p:txBody>
      </p:sp>
    </p:spTree>
    <p:extLst>
      <p:ext uri="{BB962C8B-B14F-4D97-AF65-F5344CB8AC3E}">
        <p14:creationId xmlns:p14="http://schemas.microsoft.com/office/powerpoint/2010/main" val="1659668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83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시스템 구성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8EAC6448-9F0C-4F2B-87C5-47F94F8A3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4441" y="1506858"/>
            <a:ext cx="4027415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통합검색 </a:t>
            </a:r>
            <a:br>
              <a:rPr lang="en-US" altLang="ko-KR" dirty="0"/>
            </a:br>
            <a:r>
              <a:rPr lang="ko-KR" altLang="en-US" sz="1700" dirty="0"/>
              <a:t>검색 조건 </a:t>
            </a:r>
            <a:r>
              <a:rPr lang="ko-KR" altLang="en-US" sz="1700" dirty="0" err="1"/>
              <a:t>광역시ㆍ도</a:t>
            </a:r>
            <a:r>
              <a:rPr lang="en-US" altLang="ko-KR" sz="1700" dirty="0"/>
              <a:t> / </a:t>
            </a:r>
            <a:r>
              <a:rPr lang="ko-KR" altLang="en-US" sz="1700" dirty="0" err="1"/>
              <a:t>시ㆍ군ㆍ구</a:t>
            </a:r>
            <a:r>
              <a:rPr lang="ko-KR" altLang="en-US" sz="1700" dirty="0"/>
              <a:t> </a:t>
            </a:r>
            <a:br>
              <a:rPr lang="en-US" altLang="ko-KR" sz="1700" dirty="0"/>
            </a:br>
            <a:r>
              <a:rPr lang="en-US" altLang="ko-KR" sz="1700" dirty="0"/>
              <a:t>/ </a:t>
            </a:r>
            <a:r>
              <a:rPr lang="ko-KR" altLang="en-US" sz="1700" dirty="0"/>
              <a:t>시설구분 </a:t>
            </a:r>
            <a:r>
              <a:rPr lang="en-US" altLang="ko-KR" sz="1700" dirty="0"/>
              <a:t>/ </a:t>
            </a:r>
            <a:r>
              <a:rPr lang="ko-KR" altLang="en-US" sz="1700" dirty="0"/>
              <a:t>이름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시설 </a:t>
            </a:r>
            <a:r>
              <a:rPr lang="en-US" altLang="ko-KR" dirty="0"/>
              <a:t>List</a:t>
            </a:r>
            <a:br>
              <a:rPr lang="en-US" altLang="ko-KR" dirty="0"/>
            </a:br>
            <a:r>
              <a:rPr lang="ko-KR" altLang="en-US" sz="1800" dirty="0"/>
              <a:t>검색 된 체육시설의 간략 정보</a:t>
            </a:r>
            <a:r>
              <a:rPr lang="en-US" altLang="ko-KR" sz="1800" dirty="0"/>
              <a:t>.</a:t>
            </a:r>
            <a:br>
              <a:rPr lang="en-US" altLang="ko-KR" sz="1800" dirty="0"/>
            </a:br>
            <a:r>
              <a:rPr lang="en-US" altLang="ko-KR" sz="1800" dirty="0"/>
              <a:t>Paging </a:t>
            </a:r>
            <a:r>
              <a:rPr lang="ko-KR" altLang="en-US" sz="1800" dirty="0"/>
              <a:t>사용 예정</a:t>
            </a:r>
            <a:endParaRPr lang="en-US" altLang="ko-KR" sz="1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B1B85B5-6C7B-4B54-B03A-155B17C04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742301" y="588570"/>
            <a:ext cx="3721541" cy="614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026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83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시스템 구성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8EAC6448-9F0C-4F2B-87C5-47F94F8A3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4441" y="1506858"/>
            <a:ext cx="4027415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체육 시설 내용</a:t>
            </a:r>
            <a:br>
              <a:rPr lang="en-US" altLang="ko-KR" dirty="0"/>
            </a:br>
            <a:r>
              <a:rPr lang="ko-KR" altLang="en-US" sz="1700" dirty="0"/>
              <a:t>카카오 </a:t>
            </a:r>
            <a:r>
              <a:rPr lang="en-US" altLang="ko-KR" sz="1700" dirty="0"/>
              <a:t>or </a:t>
            </a:r>
            <a:r>
              <a:rPr lang="ko-KR" altLang="en-US" sz="1700" dirty="0"/>
              <a:t>구글 맵 사용 실제 지도</a:t>
            </a:r>
            <a:r>
              <a:rPr lang="en-US" altLang="ko-KR" sz="1700" dirty="0"/>
              <a:t>.</a:t>
            </a:r>
            <a:br>
              <a:rPr lang="en-US" altLang="ko-KR" sz="1700" dirty="0"/>
            </a:br>
            <a:r>
              <a:rPr lang="ko-KR" altLang="en-US" sz="1700" dirty="0"/>
              <a:t>시설 상세 개요 보여줌</a:t>
            </a:r>
            <a:endParaRPr lang="en-US" altLang="ko-KR" sz="1700" dirty="0"/>
          </a:p>
          <a:p>
            <a:pPr>
              <a:lnSpc>
                <a:spcPct val="150000"/>
              </a:lnSpc>
            </a:pPr>
            <a:r>
              <a:rPr lang="ko-KR" altLang="en-US" dirty="0"/>
              <a:t>리뷰</a:t>
            </a:r>
            <a:br>
              <a:rPr lang="en-US" altLang="ko-KR" dirty="0"/>
            </a:br>
            <a:r>
              <a:rPr lang="ko-KR" altLang="en-US" sz="1700" dirty="0"/>
              <a:t>로그인 시 해당 시설 리뷰 조회 가능</a:t>
            </a:r>
            <a:endParaRPr lang="en-US" altLang="ko-KR" sz="1700" dirty="0"/>
          </a:p>
          <a:p>
            <a:pPr>
              <a:lnSpc>
                <a:spcPct val="150000"/>
              </a:lnSpc>
            </a:pPr>
            <a:r>
              <a:rPr lang="ko-KR" altLang="en-US" dirty="0"/>
              <a:t>리뷰 작성</a:t>
            </a:r>
            <a:r>
              <a:rPr lang="en-US" altLang="ko-KR" dirty="0"/>
              <a:t>, </a:t>
            </a:r>
            <a:r>
              <a:rPr lang="ko-KR" altLang="en-US" dirty="0"/>
              <a:t>삭제</a:t>
            </a:r>
            <a:br>
              <a:rPr lang="en-US" altLang="ko-KR" dirty="0"/>
            </a:br>
            <a:r>
              <a:rPr lang="ko-KR" altLang="en-US" sz="1700" dirty="0"/>
              <a:t>로그인 시 리뷰 작성 가능</a:t>
            </a:r>
            <a:r>
              <a:rPr lang="en-US" altLang="ko-KR" sz="1700" dirty="0"/>
              <a:t>, </a:t>
            </a:r>
            <a:r>
              <a:rPr lang="ko-KR" altLang="en-US" sz="1700" dirty="0"/>
              <a:t>로그인 사용자가 작성한 리뷰만 삭제 가능</a:t>
            </a:r>
            <a:endParaRPr lang="en-US" altLang="ko-KR" sz="17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961ACB1-A2EF-4F3C-A924-87BE7804B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605208" y="585660"/>
            <a:ext cx="4001546" cy="615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05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83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시스템 구성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8EAC6448-9F0C-4F2B-87C5-47F94F8A3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4441" y="1506858"/>
            <a:ext cx="4027415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로그인</a:t>
            </a:r>
            <a:br>
              <a:rPr lang="en-US" altLang="ko-KR" dirty="0"/>
            </a:br>
            <a:r>
              <a:rPr lang="ko-KR" altLang="en-US" sz="1700" dirty="0"/>
              <a:t>입력 받은 사용자 로그인</a:t>
            </a:r>
            <a:r>
              <a:rPr lang="en-US" altLang="ko-KR" sz="1700" dirty="0"/>
              <a:t>.</a:t>
            </a:r>
            <a:br>
              <a:rPr lang="en-US" altLang="ko-KR" sz="1700" dirty="0"/>
            </a:br>
            <a:r>
              <a:rPr lang="ko-KR" altLang="en-US" sz="1700" dirty="0"/>
              <a:t>회원가입시 </a:t>
            </a:r>
            <a:r>
              <a:rPr lang="en-US" altLang="ko-KR" sz="1700" dirty="0"/>
              <a:t>id, password, alias </a:t>
            </a:r>
            <a:r>
              <a:rPr lang="ko-KR" altLang="en-US" sz="1700" dirty="0"/>
              <a:t>입력</a:t>
            </a:r>
            <a:endParaRPr lang="en-US" altLang="ko-KR" sz="1700" dirty="0"/>
          </a:p>
          <a:p>
            <a:pPr>
              <a:lnSpc>
                <a:spcPct val="150000"/>
              </a:lnSpc>
            </a:pPr>
            <a:r>
              <a:rPr lang="en-US" altLang="ko-KR" dirty="0"/>
              <a:t>OAuth2</a:t>
            </a:r>
            <a:br>
              <a:rPr lang="en-US" altLang="ko-KR" dirty="0"/>
            </a:br>
            <a:r>
              <a:rPr lang="en-US" altLang="ko-KR" sz="1800" dirty="0"/>
              <a:t>Google / Naver </a:t>
            </a:r>
            <a:r>
              <a:rPr lang="ko-KR" altLang="en-US" sz="1800" dirty="0"/>
              <a:t>지원 예정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7C16F0B-438D-45F2-8345-BA6937F98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759680" y="588570"/>
            <a:ext cx="3686783" cy="614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450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5EF7ECC-C7D7-443D-8CF4-688FC6B94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dirty="0"/>
              <a:t>화면 설계서</a:t>
            </a:r>
          </a:p>
        </p:txBody>
      </p:sp>
    </p:spTree>
    <p:extLst>
      <p:ext uri="{BB962C8B-B14F-4D97-AF65-F5344CB8AC3E}">
        <p14:creationId xmlns:p14="http://schemas.microsoft.com/office/powerpoint/2010/main" val="1708145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B077E5-24F5-B650-BB16-72B37FFAD1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330037" y="70517"/>
            <a:ext cx="3192088" cy="2373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ko-KR" altLang="en-US" sz="1000" dirty="0"/>
              <a:t>텍스트를 입력하세요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03200282-D5E2-DA70-1722-5FB99AE80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089664"/>
              </p:ext>
            </p:extLst>
          </p:nvPr>
        </p:nvGraphicFramePr>
        <p:xfrm>
          <a:off x="8962892" y="405819"/>
          <a:ext cx="3101833" cy="4599113"/>
        </p:xfrm>
        <a:graphic>
          <a:graphicData uri="http://schemas.openxmlformats.org/drawingml/2006/table">
            <a:tbl>
              <a:tblPr firstRow="1" bandRow="1"/>
              <a:tblGrid>
                <a:gridCol w="311543">
                  <a:extLst>
                    <a:ext uri="{9D8B030D-6E8A-4147-A177-3AD203B41FA5}">
                      <a16:colId xmlns:a16="http://schemas.microsoft.com/office/drawing/2014/main" val="1927552287"/>
                    </a:ext>
                  </a:extLst>
                </a:gridCol>
                <a:gridCol w="311543">
                  <a:extLst>
                    <a:ext uri="{9D8B030D-6E8A-4147-A177-3AD203B41FA5}">
                      <a16:colId xmlns:a16="http://schemas.microsoft.com/office/drawing/2014/main" val="1382944221"/>
                    </a:ext>
                  </a:extLst>
                </a:gridCol>
                <a:gridCol w="2478747">
                  <a:extLst>
                    <a:ext uri="{9D8B030D-6E8A-4147-A177-3AD203B41FA5}">
                      <a16:colId xmlns:a16="http://schemas.microsoft.com/office/drawing/2014/main" val="4030367316"/>
                    </a:ext>
                  </a:extLst>
                </a:gridCol>
              </a:tblGrid>
              <a:tr h="320045">
                <a:tc gridSpan="3">
                  <a:txBody>
                    <a:bodyPr/>
                    <a:lstStyle/>
                    <a:p>
                      <a:pPr algn="ctr"/>
                      <a:r>
                        <a:rPr lang="ko-Kore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04460"/>
                  </a:ext>
                </a:extLst>
              </a:tr>
              <a:tr h="267868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ore-KR" altLang="en-US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258809"/>
                  </a:ext>
                </a:extLst>
              </a:tr>
              <a:tr h="539456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FE</a:t>
                      </a:r>
                      <a:endParaRPr lang="ko-Kore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380"/>
                  </a:ext>
                </a:extLst>
              </a:tr>
              <a:tr h="5394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323923"/>
                  </a:ext>
                </a:extLst>
              </a:tr>
              <a:tr h="5394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046904"/>
                  </a:ext>
                </a:extLst>
              </a:tr>
              <a:tr h="470420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BE</a:t>
                      </a:r>
                      <a:endParaRPr lang="ko-Kore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ko-Kore-KR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936203"/>
                  </a:ext>
                </a:extLst>
              </a:tr>
              <a:tr h="470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ko-Kore-KR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28157"/>
                  </a:ext>
                </a:extLst>
              </a:tr>
              <a:tr h="4704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90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ko-Kore-KR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15707"/>
                  </a:ext>
                </a:extLst>
              </a:tr>
              <a:tr h="301351">
                <a:tc gridSpan="3">
                  <a:txBody>
                    <a:bodyPr/>
                    <a:lstStyle/>
                    <a:p>
                      <a:pPr algn="ctr"/>
                      <a:r>
                        <a:rPr lang="ko-Kore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164499"/>
                  </a:ext>
                </a:extLst>
              </a:tr>
              <a:tr h="37887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ko-Kore-KR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ko-Kore-KR" sz="10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02943"/>
                  </a:ext>
                </a:extLst>
              </a:tr>
              <a:tr h="301351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ko-Kore-KR" alt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629137"/>
                  </a:ext>
                </a:extLst>
              </a:tr>
            </a:tbl>
          </a:graphicData>
        </a:graphic>
      </p:graphicFrame>
      <p:sp>
        <p:nvSpPr>
          <p:cNvPr id="8" name="텍스트 개체 틀 1">
            <a:extLst>
              <a:ext uri="{FF2B5EF4-FFF2-40B4-BE49-F238E27FC236}">
                <a16:creationId xmlns:a16="http://schemas.microsoft.com/office/drawing/2014/main" id="{55B3F925-B9AA-49F8-A683-8DD1DD9D6477}"/>
              </a:ext>
            </a:extLst>
          </p:cNvPr>
          <p:cNvSpPr txBox="1">
            <a:spLocks/>
          </p:cNvSpPr>
          <p:nvPr/>
        </p:nvSpPr>
        <p:spPr>
          <a:xfrm>
            <a:off x="5770804" y="70517"/>
            <a:ext cx="3098876" cy="23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1000" dirty="0"/>
              <a:t>텍스트를 입력하세요</a:t>
            </a:r>
          </a:p>
        </p:txBody>
      </p:sp>
      <p:sp>
        <p:nvSpPr>
          <p:cNvPr id="10" name="텍스트 개체 틀 1">
            <a:extLst>
              <a:ext uri="{FF2B5EF4-FFF2-40B4-BE49-F238E27FC236}">
                <a16:creationId xmlns:a16="http://schemas.microsoft.com/office/drawing/2014/main" id="{0FF531F6-4ABE-43DA-8C9B-79D05E9FD9FB}"/>
              </a:ext>
            </a:extLst>
          </p:cNvPr>
          <p:cNvSpPr txBox="1">
            <a:spLocks/>
          </p:cNvSpPr>
          <p:nvPr/>
        </p:nvSpPr>
        <p:spPr>
          <a:xfrm>
            <a:off x="10523913" y="70517"/>
            <a:ext cx="1540811" cy="23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1000" dirty="0"/>
              <a:t>화면 </a:t>
            </a:r>
            <a:r>
              <a:rPr kumimoji="1" lang="en-US" altLang="ko-KR" sz="1000" dirty="0"/>
              <a:t>ID</a:t>
            </a:r>
            <a:endParaRPr kumimoji="1"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557419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B077E5-24F5-B650-BB16-72B37FFAD17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283277" y="70517"/>
            <a:ext cx="3238847" cy="2373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en-US" altLang="ko-KR" sz="1000" dirty="0" err="1"/>
              <a:t>signin</a:t>
            </a:r>
            <a:r>
              <a:rPr kumimoji="1" lang="en-US" altLang="ko-KR" sz="1000" dirty="0"/>
              <a:t> : </a:t>
            </a:r>
            <a:r>
              <a:rPr kumimoji="1" lang="ko-KR" altLang="en-US" sz="1000" dirty="0"/>
              <a:t>회원가입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03200282-D5E2-DA70-1722-5FB99AE80BE0}"/>
              </a:ext>
            </a:extLst>
          </p:cNvPr>
          <p:cNvGraphicFramePr>
            <a:graphicFrameLocks noGrp="1"/>
          </p:cNvGraphicFramePr>
          <p:nvPr/>
        </p:nvGraphicFramePr>
        <p:xfrm>
          <a:off x="8962892" y="405819"/>
          <a:ext cx="3101833" cy="3872757"/>
        </p:xfrm>
        <a:graphic>
          <a:graphicData uri="http://schemas.openxmlformats.org/drawingml/2006/table">
            <a:tbl>
              <a:tblPr firstRow="1" bandRow="1"/>
              <a:tblGrid>
                <a:gridCol w="311543">
                  <a:extLst>
                    <a:ext uri="{9D8B030D-6E8A-4147-A177-3AD203B41FA5}">
                      <a16:colId xmlns:a16="http://schemas.microsoft.com/office/drawing/2014/main" val="1927552287"/>
                    </a:ext>
                  </a:extLst>
                </a:gridCol>
                <a:gridCol w="311543">
                  <a:extLst>
                    <a:ext uri="{9D8B030D-6E8A-4147-A177-3AD203B41FA5}">
                      <a16:colId xmlns:a16="http://schemas.microsoft.com/office/drawing/2014/main" val="1382944221"/>
                    </a:ext>
                  </a:extLst>
                </a:gridCol>
                <a:gridCol w="2478747">
                  <a:extLst>
                    <a:ext uri="{9D8B030D-6E8A-4147-A177-3AD203B41FA5}">
                      <a16:colId xmlns:a16="http://schemas.microsoft.com/office/drawing/2014/main" val="4030367316"/>
                    </a:ext>
                  </a:extLst>
                </a:gridCol>
              </a:tblGrid>
              <a:tr h="320045">
                <a:tc gridSpan="3">
                  <a:txBody>
                    <a:bodyPr/>
                    <a:lstStyle/>
                    <a:p>
                      <a:pPr algn="ctr"/>
                      <a:r>
                        <a:rPr lang="ko-Kore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설명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04460"/>
                  </a:ext>
                </a:extLst>
              </a:tr>
              <a:tr h="267868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서비스 이용을 위한 회원 가입 </a:t>
                      </a:r>
                      <a:endParaRPr lang="ko-Kore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258809"/>
                  </a:ext>
                </a:extLst>
              </a:tr>
              <a:tr h="633954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FE</a:t>
                      </a:r>
                      <a:endParaRPr lang="ko-Kore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ore-KR" altLang="en-US" sz="900" dirty="0">
                          <a:latin typeface="+mn-ea"/>
                          <a:ea typeface="+mn-ea"/>
                        </a:rPr>
                        <a:t>가입에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필요한 항목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이메일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이름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비밀번호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339380"/>
                  </a:ext>
                </a:extLst>
              </a:tr>
              <a:tr h="350460">
                <a:tc vMerge="1">
                  <a:txBody>
                    <a:bodyPr/>
                    <a:lstStyle/>
                    <a:p>
                      <a:pPr algn="ctr"/>
                      <a:endParaRPr lang="ko-Kore-KR" altLang="en-US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2</a:t>
                      </a:r>
                      <a:endParaRPr lang="ko-Kore-KR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ore-KR" altLang="en-US" sz="900" dirty="0"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아이디 유효성 검사</a:t>
                      </a:r>
                      <a:br>
                        <a:rPr lang="en-US" altLang="ko-KR" sz="900" dirty="0">
                          <a:latin typeface="+mn-ea"/>
                          <a:ea typeface="+mn-ea"/>
                        </a:rPr>
                      </a:b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영문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숫자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@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숫자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숫자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1629916"/>
                  </a:ext>
                </a:extLst>
              </a:tr>
              <a:tr h="633954">
                <a:tc vMerge="1">
                  <a:txBody>
                    <a:bodyPr/>
                    <a:lstStyle/>
                    <a:p>
                      <a:pPr algn="ctr"/>
                      <a:endParaRPr lang="ko-Kore-KR" altLang="en-US" sz="105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3</a:t>
                      </a:r>
                      <a:endParaRPr lang="ko-Kore-KR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ore-KR" altLang="en-US" sz="900" dirty="0"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유효성 검사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숫자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특수문자 포함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공백 없음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8~20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자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4672611"/>
                  </a:ext>
                </a:extLst>
              </a:tr>
              <a:tr h="541878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BE</a:t>
                      </a:r>
                      <a:endParaRPr lang="ko-Kore-KR" altLang="en-US" sz="9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900" b="0" dirty="0">
                          <a:latin typeface="+mn-ea"/>
                          <a:ea typeface="+mn-ea"/>
                        </a:rPr>
                        <a:t>1</a:t>
                      </a:r>
                      <a:endParaRPr lang="ko-Kore-KR" altLang="en-US" sz="900" b="0" dirty="0"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altLang="ko-Kore-KR" sz="900" dirty="0">
                          <a:effectLst/>
                          <a:latin typeface="+mn-ea"/>
                          <a:ea typeface="+mn-ea"/>
                        </a:rPr>
                        <a:t>Request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로 회원정보를 받아 데이터베이스에 저장</a:t>
                      </a:r>
                      <a:endParaRPr lang="en-US" altLang="ko-KR" sz="900" dirty="0">
                        <a:effectLst/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회원정보</a:t>
                      </a:r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 이메일</a:t>
                      </a:r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),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 이름</a:t>
                      </a:r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 비밀번호</a:t>
                      </a:r>
                      <a:endParaRPr lang="ko-Kore-KR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936203"/>
                  </a:ext>
                </a:extLst>
              </a:tr>
              <a:tr h="301351">
                <a:tc gridSpan="3">
                  <a:txBody>
                    <a:bodyPr/>
                    <a:lstStyle/>
                    <a:p>
                      <a:pPr algn="ctr"/>
                      <a:r>
                        <a:rPr lang="ko-Kore-KR" altLang="en-US" sz="9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9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ko-Kore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인터페이스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</a:t>
                      </a:r>
                      <a:endParaRPr lang="ko-Kore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Tx/>
                        <a:buChar char="-"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164499"/>
                  </a:ext>
                </a:extLst>
              </a:tr>
              <a:tr h="37887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altLang="en-US" sz="9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9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ore-KR" altLang="en-US" sz="9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9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ko-Kore-KR" altLang="en-US" sz="9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9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altLang="en-US" sz="9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9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altLang="en-US" sz="9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ko-Kore-KR" sz="9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ore-KR" altLang="en-US" sz="9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</a:t>
                      </a:r>
                      <a:r>
                        <a:rPr lang="en-GB" sz="1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비밀번호 확인 입력</a:t>
                      </a:r>
                      <a:r>
                        <a:rPr lang="ko-KR" altLang="en-US" sz="1000" dirty="0">
                          <a:effectLst/>
                          <a:latin typeface="+mn-ea"/>
                          <a:ea typeface="+mn-ea"/>
                        </a:rPr>
                        <a:t> 후</a:t>
                      </a:r>
                      <a:br>
                        <a:rPr lang="en-US" altLang="ko-Kore-KR" sz="10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회원 가입 버튼 클릭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02943"/>
                  </a:ext>
                </a:extLst>
              </a:tr>
              <a:tr h="301351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altLang="en-US" sz="9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1173" marR="31173" marT="31173" marB="3117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ko-Kore-KR" sz="1000" dirty="0">
                          <a:effectLst/>
                          <a:latin typeface="+mn-ea"/>
                          <a:ea typeface="+mn-ea"/>
                        </a:rPr>
                        <a:t>로그인 페이지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629137"/>
                  </a:ext>
                </a:extLst>
              </a:tr>
            </a:tbl>
          </a:graphicData>
        </a:graphic>
      </p:graphicFrame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7422F50D-E9AA-460A-B70B-85E4E5AA935E}"/>
              </a:ext>
            </a:extLst>
          </p:cNvPr>
          <p:cNvSpPr txBox="1">
            <a:spLocks/>
          </p:cNvSpPr>
          <p:nvPr/>
        </p:nvSpPr>
        <p:spPr>
          <a:xfrm>
            <a:off x="5770703" y="70517"/>
            <a:ext cx="3117375" cy="237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952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ko-KR" altLang="en-US" sz="1000" dirty="0"/>
              <a:t>관리</a:t>
            </a:r>
            <a:endParaRPr kumimoji="1" lang="ko-Kore-KR" altLang="en-US" sz="1000" dirty="0"/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43ED692A-EB5D-4471-9574-AA684563BB77}"/>
              </a:ext>
            </a:extLst>
          </p:cNvPr>
          <p:cNvSpPr txBox="1">
            <a:spLocks/>
          </p:cNvSpPr>
          <p:nvPr/>
        </p:nvSpPr>
        <p:spPr>
          <a:xfrm>
            <a:off x="10513808" y="61859"/>
            <a:ext cx="1550917" cy="24605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952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en-US" sz="1000" dirty="0"/>
              <a:t>Users-01</a:t>
            </a:r>
            <a:endParaRPr kumimoji="1" lang="ko-Kore-KR" alt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D54FD4-9E6F-426C-813C-75CFFCAE9AB7}"/>
              </a:ext>
            </a:extLst>
          </p:cNvPr>
          <p:cNvSpPr txBox="1"/>
          <p:nvPr/>
        </p:nvSpPr>
        <p:spPr>
          <a:xfrm>
            <a:off x="3696417" y="3244334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회원가입 화면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2F0CFBB-871E-4066-8445-3080F30F7E5E}"/>
              </a:ext>
            </a:extLst>
          </p:cNvPr>
          <p:cNvSpPr/>
          <p:nvPr/>
        </p:nvSpPr>
        <p:spPr>
          <a:xfrm>
            <a:off x="2660076" y="2342197"/>
            <a:ext cx="3724096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13800" b="1" cap="none" spc="0" dirty="0">
                <a:ln w="6600">
                  <a:solidFill>
                    <a:schemeClr val="accent2">
                      <a:alpha val="15000"/>
                    </a:schemeClr>
                  </a:solidFill>
                  <a:prstDash val="solid"/>
                </a:ln>
                <a:solidFill>
                  <a:srgbClr val="FFFFFF">
                    <a:alpha val="15000"/>
                  </a:srgbClr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예시</a:t>
            </a:r>
            <a:endParaRPr lang="en-US" altLang="ko-KR" sz="13800" b="1" cap="none" spc="0" dirty="0">
              <a:ln w="6600">
                <a:solidFill>
                  <a:schemeClr val="accent2">
                    <a:alpha val="15000"/>
                  </a:schemeClr>
                </a:solidFill>
                <a:prstDash val="solid"/>
              </a:ln>
              <a:solidFill>
                <a:srgbClr val="FFFFFF">
                  <a:alpha val="15000"/>
                </a:srgbClr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4252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5EF7ECC-C7D7-443D-8CF4-688FC6B94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400" dirty="0"/>
              <a:t>REST</a:t>
            </a:r>
            <a:r>
              <a:rPr lang="ko-KR" altLang="en-US" sz="4400" dirty="0"/>
              <a:t> </a:t>
            </a:r>
            <a:r>
              <a:rPr lang="en-US" altLang="ko-KR" sz="4400" dirty="0"/>
              <a:t>API </a:t>
            </a:r>
            <a:r>
              <a:rPr lang="ko-KR" altLang="en-US" sz="4400" dirty="0"/>
              <a:t>명세</a:t>
            </a:r>
          </a:p>
        </p:txBody>
      </p:sp>
    </p:spTree>
    <p:extLst>
      <p:ext uri="{BB962C8B-B14F-4D97-AF65-F5344CB8AC3E}">
        <p14:creationId xmlns:p14="http://schemas.microsoft.com/office/powerpoint/2010/main" val="2891650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명세 목록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/>
        </p:nvGraphicFramePr>
        <p:xfrm>
          <a:off x="1098745" y="1813175"/>
          <a:ext cx="10515601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/auth/signup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회원가입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Users-01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/v1/login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Login-01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/facility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조건에 맞는 체육시설 불러오기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/count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조건에 맞는 체육시설 개수 불러오기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0396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432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3039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9296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784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857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021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 명세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/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/auth/signup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/>
        </p:nvGraphicFramePr>
        <p:xfrm>
          <a:off x="1098744" y="2677343"/>
          <a:ext cx="10515602" cy="3756711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536673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 “</a:t>
                      </a:r>
                      <a:r>
                        <a:rPr lang="en-US" altLang="ko-KR" sz="1200" b="0" dirty="0" err="1"/>
                        <a:t>username”:”user</a:t>
                      </a:r>
                      <a:r>
                        <a:rPr lang="en-US" altLang="ko-KR" sz="1200" b="0" dirty="0"/>
                        <a:t>”, “password”:”</a:t>
                      </a:r>
                      <a:r>
                        <a:rPr lang="en-US" altLang="ko-KR" sz="1200" b="0" dirty="0" err="1"/>
                        <a:t>abcd</a:t>
                      </a:r>
                      <a:r>
                        <a:rPr lang="en-US" altLang="ko-KR" sz="1200" b="0" dirty="0"/>
                        <a:t>”, “alias”:”</a:t>
                      </a:r>
                      <a:r>
                        <a:rPr lang="ko-KR" altLang="en-US" sz="1200" b="0" dirty="0"/>
                        <a:t>별명</a:t>
                      </a:r>
                      <a:r>
                        <a:rPr lang="en-US" altLang="ko-KR" sz="1200" b="0" dirty="0"/>
                        <a:t>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536673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/>
                        <a:t>응답코드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519766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8362431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8794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 명세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/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POST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</a:t>
                      </a:r>
                      <a:r>
                        <a:rPr lang="en-US" altLang="ko-KR" sz="1200" dirty="0" err="1"/>
                        <a:t>api</a:t>
                      </a:r>
                      <a:r>
                        <a:rPr lang="en-US" altLang="ko-KR" sz="1200" dirty="0"/>
                        <a:t>/v1/login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/>
        </p:nvGraphicFramePr>
        <p:xfrm>
          <a:off x="1098744" y="2677343"/>
          <a:ext cx="10515602" cy="3756711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536673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 “</a:t>
                      </a:r>
                      <a:r>
                        <a:rPr lang="en-US" altLang="ko-KR" sz="1200" b="0" dirty="0" err="1"/>
                        <a:t>username”:”user</a:t>
                      </a:r>
                      <a:r>
                        <a:rPr lang="en-US" altLang="ko-KR" sz="1200" b="0" dirty="0"/>
                        <a:t>”, “password”:”</a:t>
                      </a:r>
                      <a:r>
                        <a:rPr lang="en-US" altLang="ko-KR" sz="1200" b="0" dirty="0" err="1"/>
                        <a:t>abcd</a:t>
                      </a:r>
                      <a:r>
                        <a:rPr lang="en-US" altLang="ko-KR" sz="1200" b="0" dirty="0"/>
                        <a:t>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536673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/>
                        <a:t>응답코드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519766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8362431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0979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 명세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/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/facility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/>
        </p:nvGraphicFramePr>
        <p:xfrm>
          <a:off x="1098744" y="2677343"/>
          <a:ext cx="10515602" cy="386011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536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536673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 “name”:”</a:t>
                      </a:r>
                      <a:r>
                        <a:rPr lang="ko-KR" altLang="en-US" sz="1200" b="0" dirty="0"/>
                        <a:t>시설이름</a:t>
                      </a:r>
                      <a:r>
                        <a:rPr lang="en-US" altLang="ko-KR" sz="1200" b="0" dirty="0"/>
                        <a:t>”,  “city”:”</a:t>
                      </a:r>
                      <a:r>
                        <a:rPr lang="ko-KR" altLang="en-US" sz="1200" b="0" dirty="0"/>
                        <a:t>광역시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도</a:t>
                      </a:r>
                      <a:r>
                        <a:rPr lang="en-US" altLang="ko-KR" sz="1200" b="0" dirty="0"/>
                        <a:t>”,”</a:t>
                      </a:r>
                      <a:r>
                        <a:rPr lang="en-US" altLang="ko-KR" sz="1200" b="0" dirty="0" err="1"/>
                        <a:t>gugun</a:t>
                      </a:r>
                      <a:r>
                        <a:rPr lang="en-US" altLang="ko-KR" sz="1200" b="0" dirty="0"/>
                        <a:t>”:”</a:t>
                      </a:r>
                      <a:r>
                        <a:rPr lang="ko-KR" altLang="en-US" sz="1200" b="0" dirty="0"/>
                        <a:t>시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군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구</a:t>
                      </a:r>
                      <a:r>
                        <a:rPr lang="en-US" altLang="ko-KR" sz="1200" b="0" dirty="0"/>
                        <a:t>”,  ”type”:”</a:t>
                      </a:r>
                      <a:r>
                        <a:rPr lang="ko-KR" altLang="en-US" sz="1200" b="0" dirty="0"/>
                        <a:t>시설구분</a:t>
                      </a:r>
                      <a:r>
                        <a:rPr lang="en-US" altLang="ko-KR" sz="1200" b="0" dirty="0"/>
                        <a:t>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시설이름이 있을 경우 지역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타입 조건 무시하고 검색</a:t>
                      </a:r>
                      <a:r>
                        <a:rPr lang="en-US" altLang="ko-KR" sz="1200" b="0" dirty="0"/>
                        <a:t>.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536673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/>
                        <a:t>응답코드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519766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8362431"/>
                  </a:ext>
                </a:extLst>
              </a:tr>
              <a:tr h="53667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{“</a:t>
                      </a:r>
                      <a:r>
                        <a:rPr lang="en-US" altLang="ko-KR" sz="1200" b="0" dirty="0" err="1"/>
                        <a:t>facility”:List</a:t>
                      </a:r>
                      <a:r>
                        <a:rPr lang="en-US" altLang="ko-KR" sz="1200" b="0" dirty="0"/>
                        <a:t>&lt;Facility&gt;}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검색조건을 만족하는 </a:t>
                      </a:r>
                      <a:r>
                        <a:rPr lang="en-US" altLang="ko-KR" sz="1200" b="0" dirty="0"/>
                        <a:t>Facility</a:t>
                      </a:r>
                      <a:r>
                        <a:rPr lang="ko-KR" altLang="en-US" sz="1200" b="0" dirty="0"/>
                        <a:t>들의 </a:t>
                      </a:r>
                      <a:r>
                        <a:rPr lang="en-US" altLang="ko-KR" sz="1200" b="0" dirty="0"/>
                        <a:t>List. Param</a:t>
                      </a:r>
                      <a:r>
                        <a:rPr lang="ko-KR" altLang="en-US" sz="1200" b="0" dirty="0"/>
                        <a:t>이 모두 </a:t>
                      </a:r>
                      <a:r>
                        <a:rPr lang="en-US" altLang="ko-KR" sz="1200" b="0" dirty="0"/>
                        <a:t>null</a:t>
                      </a:r>
                      <a:r>
                        <a:rPr lang="ko-KR" altLang="en-US" sz="1200" b="0" dirty="0"/>
                        <a:t>일 경우 </a:t>
                      </a:r>
                      <a:r>
                        <a:rPr lang="en-US" altLang="ko-KR" sz="1200" b="0" dirty="0"/>
                        <a:t>null </a:t>
                      </a:r>
                      <a:r>
                        <a:rPr lang="ko-KR" altLang="en-US" sz="1200" b="0" dirty="0"/>
                        <a:t>리턴</a:t>
                      </a:r>
                      <a:r>
                        <a:rPr lang="en-US" altLang="ko-KR" sz="1200" b="0" dirty="0"/>
                        <a:t>.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7139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BE602C-722B-4F3E-8FAF-32002871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</a:t>
            </a:r>
            <a:r>
              <a:rPr lang="en-US" altLang="ko-KR" dirty="0"/>
              <a:t>API </a:t>
            </a:r>
            <a:r>
              <a:rPr lang="ko-KR" altLang="en-US" dirty="0"/>
              <a:t>상세 명세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3829CBD-FDE1-49C7-8F59-92F9AEE14FFD}"/>
              </a:ext>
            </a:extLst>
          </p:cNvPr>
          <p:cNvGraphicFramePr>
            <a:graphicFrameLocks noGrp="1"/>
          </p:cNvGraphicFramePr>
          <p:nvPr/>
        </p:nvGraphicFramePr>
        <p:xfrm>
          <a:off x="1098745" y="1813175"/>
          <a:ext cx="105156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41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989814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4006392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1207154">
                  <a:extLst>
                    <a:ext uri="{9D8B030D-6E8A-4147-A177-3AD203B41FA5}">
                      <a16:colId xmlns:a16="http://schemas.microsoft.com/office/drawing/2014/main" val="2556227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Index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Method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화면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GET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/count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</a:tbl>
          </a:graphicData>
        </a:graphic>
      </p:graphicFrame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F226905-024C-4372-98B1-33BF7E26573E}"/>
              </a:ext>
            </a:extLst>
          </p:cNvPr>
          <p:cNvGraphicFramePr>
            <a:graphicFrameLocks noGrp="1"/>
          </p:cNvGraphicFramePr>
          <p:nvPr/>
        </p:nvGraphicFramePr>
        <p:xfrm>
          <a:off x="1098744" y="2677343"/>
          <a:ext cx="10515602" cy="39331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21249">
                  <a:extLst>
                    <a:ext uri="{9D8B030D-6E8A-4147-A177-3AD203B41FA5}">
                      <a16:colId xmlns:a16="http://schemas.microsoft.com/office/drawing/2014/main" val="93990522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260905356"/>
                    </a:ext>
                  </a:extLst>
                </a:gridCol>
                <a:gridCol w="6683433">
                  <a:extLst>
                    <a:ext uri="{9D8B030D-6E8A-4147-A177-3AD203B41FA5}">
                      <a16:colId xmlns:a16="http://schemas.microsoft.com/office/drawing/2014/main" val="3484735828"/>
                    </a:ext>
                  </a:extLst>
                </a:gridCol>
                <a:gridCol w="2096273">
                  <a:extLst>
                    <a:ext uri="{9D8B030D-6E8A-4147-A177-3AD203B41FA5}">
                      <a16:colId xmlns:a16="http://schemas.microsoft.com/office/drawing/2014/main" val="663733866"/>
                    </a:ext>
                  </a:extLst>
                </a:gridCol>
              </a:tblGrid>
              <a:tr h="4399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704078"/>
                  </a:ext>
                </a:extLst>
              </a:tr>
              <a:tr h="439967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Request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요청라인 </a:t>
                      </a:r>
                      <a:r>
                        <a:rPr lang="en-US" altLang="ko-KR" sz="1200" b="0" dirty="0"/>
                        <a:t>(</a:t>
                      </a:r>
                      <a:r>
                        <a:rPr lang="ko-KR" altLang="en-US" sz="1200" b="0" dirty="0"/>
                        <a:t>질의문자열</a:t>
                      </a:r>
                      <a:r>
                        <a:rPr lang="en-US" altLang="ko-KR" sz="1200" b="0" dirty="0"/>
                        <a:t>)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67022"/>
                  </a:ext>
                </a:extLst>
              </a:tr>
              <a:tr h="43996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363667"/>
                  </a:ext>
                </a:extLst>
              </a:tr>
              <a:tr h="439967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 “city”:”</a:t>
                      </a:r>
                      <a:r>
                        <a:rPr lang="ko-KR" altLang="en-US" sz="1200" b="0" dirty="0"/>
                        <a:t>광역시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도</a:t>
                      </a:r>
                      <a:r>
                        <a:rPr lang="en-US" altLang="ko-KR" sz="1200" b="0" dirty="0"/>
                        <a:t>”,  ”</a:t>
                      </a:r>
                      <a:r>
                        <a:rPr lang="en-US" altLang="ko-KR" sz="1200" b="0" dirty="0" err="1"/>
                        <a:t>gugun</a:t>
                      </a:r>
                      <a:r>
                        <a:rPr lang="en-US" altLang="ko-KR" sz="1200" b="0" dirty="0"/>
                        <a:t>”:”</a:t>
                      </a:r>
                      <a:r>
                        <a:rPr lang="ko-KR" altLang="en-US" sz="1200" b="0" dirty="0"/>
                        <a:t>시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군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구</a:t>
                      </a:r>
                      <a:r>
                        <a:rPr lang="en-US" altLang="ko-KR" sz="1200" b="0" dirty="0"/>
                        <a:t>”,  ”type”:”</a:t>
                      </a:r>
                      <a:r>
                        <a:rPr lang="ko-KR" altLang="en-US" sz="1200" b="0" dirty="0"/>
                        <a:t>시설구분</a:t>
                      </a:r>
                      <a:r>
                        <a:rPr lang="en-US" altLang="ko-KR" sz="1200" b="0" dirty="0"/>
                        <a:t>”}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385129"/>
                  </a:ext>
                </a:extLst>
              </a:tr>
              <a:tr h="439967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Response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Line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/>
                        <a:t>응답코드</a:t>
                      </a:r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519766"/>
                  </a:ext>
                </a:extLst>
              </a:tr>
              <a:tr h="4399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Header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8362431"/>
                  </a:ext>
                </a:extLst>
              </a:tr>
              <a:tr h="1293378">
                <a:tc vMerge="1">
                  <a:txBody>
                    <a:bodyPr/>
                    <a:lstStyle/>
                    <a:p>
                      <a:pPr latinLnBrk="1"/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Body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{“*_count”: Integer}</a:t>
                      </a:r>
                      <a:endParaRPr lang="ko-KR" altLang="en-US" sz="12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/>
                        <a:t>요청 파라메터가 모두 </a:t>
                      </a:r>
                      <a:r>
                        <a:rPr lang="en-US" altLang="ko-KR" sz="1200" b="0" dirty="0"/>
                        <a:t>null</a:t>
                      </a:r>
                      <a:r>
                        <a:rPr lang="ko-KR" altLang="en-US" sz="1200" b="0" dirty="0"/>
                        <a:t>일 경우</a:t>
                      </a:r>
                      <a:endParaRPr lang="en-US" altLang="ko-KR" sz="1200" b="0" dirty="0"/>
                    </a:p>
                    <a:p>
                      <a:pPr latinLnBrk="1"/>
                      <a:r>
                        <a:rPr lang="en-US" altLang="ko-KR" sz="1200" b="0" dirty="0"/>
                        <a:t>(1)</a:t>
                      </a:r>
                      <a:r>
                        <a:rPr lang="ko-KR" altLang="en-US" sz="1200" b="0" dirty="0"/>
                        <a:t>광역시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도 별 시설개수 리스트와</a:t>
                      </a:r>
                      <a:endParaRPr lang="en-US" altLang="ko-KR" sz="1200" b="0" dirty="0"/>
                    </a:p>
                    <a:p>
                      <a:pPr latinLnBrk="1"/>
                      <a:r>
                        <a:rPr lang="en-US" altLang="ko-KR" sz="1200" b="0" dirty="0"/>
                        <a:t>(2)</a:t>
                      </a:r>
                      <a:r>
                        <a:rPr lang="ko-KR" altLang="en-US" sz="1200" b="0" dirty="0"/>
                        <a:t>시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군</a:t>
                      </a:r>
                      <a:r>
                        <a:rPr lang="en-US" altLang="ko-KR" sz="1200" b="0" dirty="0"/>
                        <a:t>/</a:t>
                      </a:r>
                      <a:r>
                        <a:rPr lang="ko-KR" altLang="en-US" sz="1200" b="0" dirty="0"/>
                        <a:t>구 별 시설개수 리스트를 리턴</a:t>
                      </a:r>
                      <a:endParaRPr lang="en-US" altLang="ko-KR" sz="12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3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6110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5EF7ECC-C7D7-443D-8CF4-688FC6B94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400" dirty="0"/>
              <a:t>Database </a:t>
            </a:r>
            <a:r>
              <a:rPr lang="ko-KR" altLang="en-US" sz="4400" dirty="0"/>
              <a:t>설계</a:t>
            </a:r>
          </a:p>
        </p:txBody>
      </p:sp>
    </p:spTree>
    <p:extLst>
      <p:ext uri="{BB962C8B-B14F-4D97-AF65-F5344CB8AC3E}">
        <p14:creationId xmlns:p14="http://schemas.microsoft.com/office/powerpoint/2010/main" val="3065389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ERD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ADDCFC6-9D9B-47D0-B590-18185BBF2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그림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00B8B0A-0838-4134-B49E-AB2571520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101" y="1690688"/>
            <a:ext cx="5353797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80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</a:t>
            </a:r>
            <a:r>
              <a:rPr lang="ko-KR" altLang="en-US" dirty="0"/>
              <a:t>명세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ADDCFC6-9D9B-47D0-B590-18185BBF2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ERD </a:t>
            </a:r>
            <a:r>
              <a:rPr lang="ko-KR" altLang="en-US" dirty="0"/>
              <a:t>테이블 구성 및 스키마 설명</a:t>
            </a:r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6A5F666B-EECD-4382-A0D0-2F69631A9194}"/>
              </a:ext>
            </a:extLst>
          </p:cNvPr>
          <p:cNvGraphicFramePr>
            <a:graphicFrameLocks noGrp="1"/>
          </p:cNvGraphicFramePr>
          <p:nvPr/>
        </p:nvGraphicFramePr>
        <p:xfrm>
          <a:off x="1073805" y="2549450"/>
          <a:ext cx="8992907" cy="39434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212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194102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1142558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1116786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90201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987926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2027394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2816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facility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설명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컨테이너 정보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컬럼명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타입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길이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Not Null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Key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Default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설명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PK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체육시설 식별번호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체육시설 이름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체육시설 종류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ZIP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우편번호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40396122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주소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1432579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상세주소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26530761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DOUBLE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2334787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DOUBLE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41974692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전화번호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06692183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CITY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광역시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20523261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GUGUN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군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33884917"/>
                  </a:ext>
                </a:extLst>
              </a:tr>
              <a:tr h="281673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등록날짜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15593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57545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</a:t>
            </a:r>
            <a:r>
              <a:rPr lang="ko-KR" altLang="en-US" dirty="0"/>
              <a:t>명세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ADDCFC6-9D9B-47D0-B590-18185BBF2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ERD </a:t>
            </a:r>
            <a:r>
              <a:rPr lang="ko-KR" altLang="en-US" dirty="0"/>
              <a:t>테이블 구성 및 스키마 설명</a:t>
            </a:r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6A5F666B-EECD-4382-A0D0-2F69631A9194}"/>
              </a:ext>
            </a:extLst>
          </p:cNvPr>
          <p:cNvGraphicFramePr>
            <a:graphicFrameLocks noGrp="1"/>
          </p:cNvGraphicFramePr>
          <p:nvPr/>
        </p:nvGraphicFramePr>
        <p:xfrm>
          <a:off x="1073805" y="2549450"/>
          <a:ext cx="8992907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212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194102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1142558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1116786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90201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987926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2027394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member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설명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컨테이너 정보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컬럼명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타입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길이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Not Null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Key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Default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설명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PK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아이디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ALIAS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별명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1444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D323BD-B0B2-4B55-B153-67C0DD00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</a:t>
            </a:r>
            <a:r>
              <a:rPr lang="ko-KR" altLang="en-US" dirty="0"/>
              <a:t>명세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ADDCFC6-9D9B-47D0-B590-18185BBF2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ERD </a:t>
            </a:r>
            <a:r>
              <a:rPr lang="ko-KR" altLang="en-US" dirty="0"/>
              <a:t>테이블 구성 및 스키마 설명</a:t>
            </a:r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6A5F666B-EECD-4382-A0D0-2F69631A9194}"/>
              </a:ext>
            </a:extLst>
          </p:cNvPr>
          <p:cNvGraphicFramePr>
            <a:graphicFrameLocks noGrp="1"/>
          </p:cNvGraphicFramePr>
          <p:nvPr/>
        </p:nvGraphicFramePr>
        <p:xfrm>
          <a:off x="1073805" y="2549450"/>
          <a:ext cx="8992907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2122">
                  <a:extLst>
                    <a:ext uri="{9D8B030D-6E8A-4147-A177-3AD203B41FA5}">
                      <a16:colId xmlns:a16="http://schemas.microsoft.com/office/drawing/2014/main" val="1185641856"/>
                    </a:ext>
                  </a:extLst>
                </a:gridCol>
                <a:gridCol w="1194102">
                  <a:extLst>
                    <a:ext uri="{9D8B030D-6E8A-4147-A177-3AD203B41FA5}">
                      <a16:colId xmlns:a16="http://schemas.microsoft.com/office/drawing/2014/main" val="567612738"/>
                    </a:ext>
                  </a:extLst>
                </a:gridCol>
                <a:gridCol w="1142558">
                  <a:extLst>
                    <a:ext uri="{9D8B030D-6E8A-4147-A177-3AD203B41FA5}">
                      <a16:colId xmlns:a16="http://schemas.microsoft.com/office/drawing/2014/main" val="2790895838"/>
                    </a:ext>
                  </a:extLst>
                </a:gridCol>
                <a:gridCol w="1116786">
                  <a:extLst>
                    <a:ext uri="{9D8B030D-6E8A-4147-A177-3AD203B41FA5}">
                      <a16:colId xmlns:a16="http://schemas.microsoft.com/office/drawing/2014/main" val="1858460438"/>
                    </a:ext>
                  </a:extLst>
                </a:gridCol>
                <a:gridCol w="902019">
                  <a:extLst>
                    <a:ext uri="{9D8B030D-6E8A-4147-A177-3AD203B41FA5}">
                      <a16:colId xmlns:a16="http://schemas.microsoft.com/office/drawing/2014/main" val="327981783"/>
                    </a:ext>
                  </a:extLst>
                </a:gridCol>
                <a:gridCol w="987926">
                  <a:extLst>
                    <a:ext uri="{9D8B030D-6E8A-4147-A177-3AD203B41FA5}">
                      <a16:colId xmlns:a16="http://schemas.microsoft.com/office/drawing/2014/main" val="1671121532"/>
                    </a:ext>
                  </a:extLst>
                </a:gridCol>
                <a:gridCol w="2027394">
                  <a:extLst>
                    <a:ext uri="{9D8B030D-6E8A-4147-A177-3AD203B41FA5}">
                      <a16:colId xmlns:a16="http://schemas.microsoft.com/office/drawing/2014/main" val="2138751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review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URI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테이블 설명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컨테이너 정보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006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컬럼명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타입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길이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Not Null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Key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Default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설명</a:t>
                      </a:r>
                      <a:endParaRPr lang="ko-KR" altLang="en-US" sz="1200" dirty="0"/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37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PK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리뷰 식별번호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0742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리뷰내용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890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FK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리뷰 작성자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864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O</a:t>
                      </a:r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r>
                        <a:rPr lang="en-US" altLang="ko-KR" sz="1100" u="none" strike="noStrike" dirty="0">
                          <a:effectLst/>
                        </a:rPr>
                        <a:t>FK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""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리뷰 작성시설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40396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82563" indent="0"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82563" indent="0"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1432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34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888</Words>
  <Application>Microsoft Office PowerPoint</Application>
  <PresentationFormat>와이드스크린</PresentationFormat>
  <Paragraphs>365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Gulim</vt:lpstr>
      <vt:lpstr>맑은 고딕</vt:lpstr>
      <vt:lpstr>맑은 고딕</vt:lpstr>
      <vt:lpstr>Arial</vt:lpstr>
      <vt:lpstr>Office 테마</vt:lpstr>
      <vt:lpstr>미니 프로젝트 제목</vt:lpstr>
      <vt:lpstr>활용 데이터</vt:lpstr>
      <vt:lpstr>기능 정의</vt:lpstr>
      <vt:lpstr>시스템 구성</vt:lpstr>
      <vt:lpstr>시스템 구성</vt:lpstr>
      <vt:lpstr>시스템 구성</vt:lpstr>
      <vt:lpstr>시스템 구성</vt:lpstr>
      <vt:lpstr>화면 설계서</vt:lpstr>
      <vt:lpstr>PowerPoint 프레젠테이션</vt:lpstr>
      <vt:lpstr>PowerPoint 프레젠테이션</vt:lpstr>
      <vt:lpstr>REST API 명세</vt:lpstr>
      <vt:lpstr>REST API 명세 목록</vt:lpstr>
      <vt:lpstr>REST API 상세 명세</vt:lpstr>
      <vt:lpstr>REST API 상세 명세</vt:lpstr>
      <vt:lpstr>REST API 상세 명세</vt:lpstr>
      <vt:lpstr>REST API 상세 명세</vt:lpstr>
      <vt:lpstr>Database 설계</vt:lpstr>
      <vt:lpstr>ERD</vt:lpstr>
      <vt:lpstr>Table 명세</vt:lpstr>
      <vt:lpstr>Table 명세</vt:lpstr>
      <vt:lpstr>Table 명세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사이트 개발 목적 및 컨셉</dc:title>
  <dc:creator>김경민</dc:creator>
  <cp:lastModifiedBy>user</cp:lastModifiedBy>
  <cp:revision>25</cp:revision>
  <dcterms:created xsi:type="dcterms:W3CDTF">2023-11-14T00:10:21Z</dcterms:created>
  <dcterms:modified xsi:type="dcterms:W3CDTF">2025-12-19T00:48:31Z</dcterms:modified>
</cp:coreProperties>
</file>